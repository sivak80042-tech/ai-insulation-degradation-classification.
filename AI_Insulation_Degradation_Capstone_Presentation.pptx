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Electrical Insulation Degradation Classification Using Leakage Current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Capstone Project</a:t>
            </a:r>
          </a:p>
          <a:p>
            <a:r>
              <a:t>Electrical &amp; Electronics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Electrical insulation degradation is an important reliability concern in electrical equipment.</a:t>
            </a:r>
          </a:p>
          <a:p>
            <a:pPr>
              <a:spcAft>
                <a:spcPts val="800"/>
              </a:spcAft>
              <a:defRPr sz="2000"/>
            </a:pPr>
            <a:r>
              <a:t>Leakage current contains useful information about insulation condition.</a:t>
            </a:r>
          </a:p>
          <a:p>
            <a:pPr>
              <a:spcAft>
                <a:spcPts val="800"/>
              </a:spcAft>
              <a:defRPr sz="1600"/>
            </a:pPr>
            <a:r>
              <a:t>This project develops an artificial-intelligence-based classification system that uses leakage-current patterns to classify insulation into Healthy, Moderately Degraded, and Severely Degraded conditions.</a:t>
            </a:r>
          </a:p>
          <a:p>
            <a:pPr>
              <a:spcAft>
                <a:spcPts val="800"/>
              </a:spcAft>
              <a:defRPr sz="1600"/>
            </a:pPr>
            <a:r>
              <a:t>Signal-processing features such as RMS value, peak current, standard deviation, crest factor and frequency-domain information are extracted from leakage-current samples.</a:t>
            </a:r>
          </a:p>
          <a:p>
            <a:pPr>
              <a:spcAft>
                <a:spcPts val="800"/>
              </a:spcAft>
              <a:defRPr sz="2000"/>
            </a:pPr>
            <a:r>
              <a:t>Random Forest and Support Vector Machine (SVM) classifiers are trained and evaluated using labelled data.</a:t>
            </a:r>
          </a:p>
          <a:p>
            <a:pPr>
              <a:spcAft>
                <a:spcPts val="800"/>
              </a:spcAft>
              <a:defRPr sz="1600"/>
            </a:pPr>
            <a:r>
              <a:t>A simple Streamlit dashboard is proposed for entering or uploading leakage-current data and displaying the predicted insulation condition.</a:t>
            </a:r>
          </a:p>
          <a:p>
            <a:pPr>
              <a:spcAft>
                <a:spcPts val="800"/>
              </a:spcAft>
              <a:defRPr sz="1600"/>
            </a:pPr>
            <a:r>
              <a:t>For demonstration, the project can use simulated labelled signals when a real experimental dataset is unavailable; such results must be clearly identified as simulated validation rather than field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Electrical insulation prevents unwanted current flow between conductors and from conductors to earth.</a:t>
            </a:r>
          </a:p>
          <a:p>
            <a:pPr>
              <a:spcAft>
                <a:spcPts val="800"/>
              </a:spcAft>
              <a:defRPr sz="1600"/>
            </a:pPr>
            <a:r>
              <a:t>With ageing, thermal stress, moisture, contamination, electrical stress and mechanical effects, insulation performance can deteriorate.</a:t>
            </a:r>
          </a:p>
          <a:p>
            <a:pPr>
              <a:spcAft>
                <a:spcPts val="800"/>
              </a:spcAft>
              <a:defRPr sz="2000"/>
            </a:pPr>
            <a:r>
              <a:t>Leakage current is one measurable indicator that can change as insulation condition changes.</a:t>
            </a:r>
          </a:p>
          <a:p>
            <a:pPr>
              <a:spcAft>
                <a:spcPts val="800"/>
              </a:spcAft>
              <a:defRPr sz="1600"/>
            </a:pPr>
            <a:r>
              <a:t>Manual interpretation of large signal records can be difficult, so machine learning can help identify patterns consistently.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Develop a software-based classification system that receives leakage-current patterns, extracts meaningful electrical and statistical features, and classifies the insulation condition into three categories: Healthy, Moderately Degraded, or Severely Degraded.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1.</a:t>
            </a:r>
          </a:p>
          <a:p>
            <a:pPr>
              <a:spcAft>
                <a:spcPts val="800"/>
              </a:spcAft>
              <a:defRPr sz="2000"/>
            </a:pPr>
            <a:r>
              <a:t>Generate or acquire labelled leakage-current signals.</a:t>
            </a:r>
          </a:p>
          <a:p>
            <a:pPr>
              <a:spcAft>
                <a:spcPts val="800"/>
              </a:spcAft>
              <a:defRPr sz="2000"/>
            </a:pPr>
            <a:r>
              <a:t>2.</a:t>
            </a:r>
          </a:p>
          <a:p>
            <a:pPr>
              <a:spcAft>
                <a:spcPts val="800"/>
              </a:spcAft>
              <a:defRPr sz="2000"/>
            </a:pPr>
            <a:r>
              <a:t>Preprocess the signal data.</a:t>
            </a:r>
          </a:p>
          <a:p>
            <a:pPr>
              <a:spcAft>
                <a:spcPts val="800"/>
              </a:spcAft>
              <a:defRPr sz="2000"/>
            </a:pPr>
            <a:r>
              <a:t>3.</a:t>
            </a:r>
          </a:p>
          <a:p>
            <a:pPr>
              <a:spcAft>
                <a:spcPts val="800"/>
              </a:spcAft>
              <a:defRPr sz="2000"/>
            </a:pPr>
            <a:r>
              <a:t>Extract time-domain and frequency-domain features.</a:t>
            </a:r>
          </a:p>
          <a:p>
            <a:pPr>
              <a:spcAft>
                <a:spcPts val="800"/>
              </a:spcAft>
              <a:defRPr sz="2000"/>
            </a:pPr>
            <a:r>
              <a:t>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Input Leakage Current Signal → Preprocessing → Feature Extraction → Feature Scaling/Selection → Machine Learning Model → Insulation Condition Classification → Dashboard/Report.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The signal is first cleaned and divided into suitable samples or windows.</a:t>
            </a:r>
          </a:p>
          <a:p>
            <a:pPr>
              <a:spcAft>
                <a:spcPts val="800"/>
              </a:spcAft>
              <a:defRPr sz="2000"/>
            </a:pPr>
            <a:r>
              <a:t>Time-domain features include RMS, peak magnitude, mean, standard deviation and crest factor.</a:t>
            </a:r>
          </a:p>
          <a:p>
            <a:pPr>
              <a:spcAft>
                <a:spcPts val="800"/>
              </a:spcAft>
              <a:defRPr sz="2000"/>
            </a:pPr>
            <a:r>
              <a:t>Frequency-domain characteristics can be obtained using FFT.</a:t>
            </a:r>
          </a:p>
          <a:p>
            <a:pPr>
              <a:spcAft>
                <a:spcPts val="800"/>
              </a:spcAft>
              <a:defRPr sz="2000"/>
            </a:pPr>
            <a:r>
              <a:t>The labelled feature matrix is divided into training and test sets.</a:t>
            </a:r>
          </a:p>
          <a:p>
            <a:pPr>
              <a:spcAft>
                <a:spcPts val="800"/>
              </a:spcAft>
              <a:defRPr sz="2000"/>
            </a:pPr>
            <a:r>
              <a:t>Random Forest provides an ensemble decision model, while SVM finds a separating boundary in feature space.</a:t>
            </a:r>
          </a:p>
          <a:p>
            <a:pPr>
              <a:spcAft>
                <a:spcPts val="800"/>
              </a:spcAft>
              <a:defRPr sz="2000"/>
            </a:pPr>
            <a:r>
              <a:t>The predicted class is compared with the known test label.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RMS = sqrt((1/N) Σ x_i²).</a:t>
            </a:r>
          </a:p>
          <a:p>
            <a:pPr>
              <a:spcAft>
                <a:spcPts val="800"/>
              </a:spcAft>
              <a:defRPr sz="2000"/>
            </a:pPr>
            <a:r>
              <a:t>Peak current = max(|x_i|).</a:t>
            </a:r>
          </a:p>
          <a:p>
            <a:pPr>
              <a:spcAft>
                <a:spcPts val="800"/>
              </a:spcAft>
              <a:defRPr sz="2000"/>
            </a:pPr>
            <a:r>
              <a:t>Standard deviation describes signal variation.</a:t>
            </a:r>
          </a:p>
          <a:p>
            <a:pPr>
              <a:spcAft>
                <a:spcPts val="800"/>
              </a:spcAft>
              <a:defRPr sz="2000"/>
            </a:pPr>
            <a:r>
              <a:t>Crest factor = Peak/RMS.</a:t>
            </a:r>
          </a:p>
          <a:p>
            <a:pPr>
              <a:spcAft>
                <a:spcPts val="800"/>
              </a:spcAft>
              <a:defRPr sz="1600"/>
            </a:pPr>
            <a:r>
              <a:t>FFT magnitude provides frequency-domain information and can help distinguish different leakage-current patterns.</a:t>
            </a:r>
          </a:p>
          <a:p>
            <a:pPr>
              <a:spcAft>
                <a:spcPts val="800"/>
              </a:spcAft>
              <a:defRPr sz="2000"/>
            </a:pPr>
            <a:r>
              <a:t>These features convert a raw waveform into a compact numerical representation suitable for machine learning.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Random Forest combines multiple decision trees and is useful for nonlinear relationships and mixed feature behaviour.</a:t>
            </a:r>
          </a:p>
          <a:p>
            <a:pPr>
              <a:spcAft>
                <a:spcPts val="800"/>
              </a:spcAft>
              <a:defRPr sz="1600"/>
            </a:pPr>
            <a:r>
              <a:t>Support Vector Machine (SVM) constructs a decision boundary that maximizes class separation; an RBF kernel can model nonlinear patterns.</a:t>
            </a:r>
          </a:p>
          <a:p>
            <a:pPr>
              <a:spcAft>
                <a:spcPts val="800"/>
              </a:spcAft>
              <a:defRPr sz="2000"/>
            </a:pPr>
            <a:r>
              <a:t>Both models are trained on the same labelled feature set for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Classification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Healthy: comparatively stable and low-variation leakage-current pattern.</a:t>
            </a:r>
          </a:p>
          <a:p>
            <a:pPr>
              <a:spcAft>
                <a:spcPts val="800"/>
              </a:spcAft>
              <a:defRPr sz="2000"/>
            </a:pPr>
            <a:r>
              <a:t>Moderately Degraded: noticeable increase or variation in leakage current.</a:t>
            </a:r>
          </a:p>
          <a:p>
            <a:pPr>
              <a:spcAft>
                <a:spcPts val="800"/>
              </a:spcAft>
              <a:defRPr sz="2000"/>
            </a:pPr>
            <a:r>
              <a:t>Severely Degraded: substantially abnormal or highly variable pattern.</a:t>
            </a:r>
          </a:p>
          <a:p>
            <a:pPr>
              <a:spcAft>
                <a:spcPts val="800"/>
              </a:spcAft>
              <a:defRPr sz="1600"/>
            </a:pPr>
            <a:r>
              <a:t>Thresholds and class definitions must be established from validated experimental data before using the system for real equipment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The project should report a confusion matrix and class-wise precision, recall and F1-score, along with overall accuracy.</a:t>
            </a:r>
          </a:p>
          <a:p>
            <a:pPr>
              <a:spcAft>
                <a:spcPts val="800"/>
              </a:spcAft>
              <a:defRPr sz="2000"/>
            </a:pPr>
            <a:r>
              <a:t>Accuracy alone is not sufficient if the classes are imbalanced.</a:t>
            </a:r>
          </a:p>
          <a:p>
            <a:pPr>
              <a:spcAft>
                <a:spcPts val="800"/>
              </a:spcAft>
              <a:defRPr sz="1600"/>
            </a:pPr>
            <a:r>
              <a:t>The final report should distinguish simulated-data performance from performance obtained using real measured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A Streamlit dashboard can provide file upload or sample-data input, waveform visualization, feature values, model selection, and the predicted insulation class.</a:t>
            </a:r>
          </a:p>
          <a:p>
            <a:pPr>
              <a:spcAft>
                <a:spcPts val="800"/>
              </a:spcAft>
              <a:defRPr sz="1600"/>
            </a:pPr>
            <a:r>
              <a:t>The interface should clearly show that the prediction is an engineering decision-support result and not a replacement for electrical safety procedures or insulation testing standards.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• Automated pattern classification.</a:t>
            </a:r>
          </a:p>
          <a:p>
            <a:pPr>
              <a:spcAft>
                <a:spcPts val="800"/>
              </a:spcAft>
              <a:defRPr sz="2000"/>
            </a:pPr>
            <a:r>
              <a:t>• Fast analysis of recorded signals.</a:t>
            </a:r>
          </a:p>
          <a:p>
            <a:pPr>
              <a:spcAft>
                <a:spcPts val="800"/>
              </a:spcAft>
              <a:defRPr sz="2000"/>
            </a:pPr>
            <a:r>
              <a:t>• Repeatable feature-based evaluation.</a:t>
            </a:r>
          </a:p>
          <a:p>
            <a:pPr>
              <a:spcAft>
                <a:spcPts val="800"/>
              </a:spcAft>
              <a:defRPr sz="2000"/>
            </a:pPr>
            <a:r>
              <a:t>• Supports visualization and comparison of models.</a:t>
            </a:r>
          </a:p>
          <a:p>
            <a:pPr>
              <a:spcAft>
                <a:spcPts val="800"/>
              </a:spcAft>
              <a:defRPr sz="2000"/>
            </a:pPr>
            <a:r>
              <a:t>• Can be extended with real laboratory measurements.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Model quality depends strongly on the quality and representativeness of labelled data.</a:t>
            </a:r>
          </a:p>
          <a:p>
            <a:pPr>
              <a:spcAft>
                <a:spcPts val="800"/>
              </a:spcAft>
              <a:defRPr sz="2000"/>
            </a:pPr>
            <a:r>
              <a:t>Simulated signals may not capture all real insulation phenomena.</a:t>
            </a:r>
          </a:p>
          <a:p>
            <a:pPr>
              <a:spcAft>
                <a:spcPts val="800"/>
              </a:spcAft>
              <a:defRPr sz="2000"/>
            </a:pPr>
            <a:r>
              <a:t>Sensor noise, temperature, humidity, equipment type and measurement setup can affect leakage current.</a:t>
            </a:r>
          </a:p>
          <a:p>
            <a:pPr>
              <a:spcAft>
                <a:spcPts val="800"/>
              </a:spcAft>
              <a:defRPr sz="1600"/>
            </a:pPr>
            <a:r>
              <a:t>Therefore, real-world deployment requires laboratory/field validation and appropriate electrical safety practices.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Future work can include real-time sensor acquisition, larger experimental datasets, deep-learning models such as 1-D CNNs, anomaly detection, edge deployment, trend monitoring, explainable AI, and integration with condition-monitoring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The proposed system demonstrates how leakage-current signal features and machine learning can be combined to classify electrical insulation condition.</a:t>
            </a:r>
          </a:p>
          <a:p>
            <a:pPr>
              <a:spcAft>
                <a:spcPts val="800"/>
              </a:spcAft>
              <a:defRPr sz="1600"/>
            </a:pPr>
            <a:r>
              <a:t>Random Forest and SVM provide practical baseline models, while waveform and FFT visualization improve interpretability.</a:t>
            </a:r>
          </a:p>
          <a:p>
            <a:pPr>
              <a:spcAft>
                <a:spcPts val="800"/>
              </a:spcAft>
              <a:defRPr sz="1600"/>
            </a:pPr>
            <a:r>
              <a:t>With properly labelled experimental data and validation, the approach can become a useful condition-monitoring aid.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